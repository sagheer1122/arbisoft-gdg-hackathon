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10058400" cy="4572000"/>
          </a:xfrm>
          <a:prstGeom prst="roundRect">
            <a:avLst/>
          </a:prstGeom>
          <a:solidFill>
            <a:srgbClr val="1E1E37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🏥 NURSEFLOW</a:t>
            </a:r>
          </a:p>
          <a:p>
            <a:pPr>
              <a:spcBef>
                <a:spcPts val="1000"/>
              </a:spcBef>
              <a:defRPr sz="2200" b="1">
                <a:solidFill>
                  <a:srgbClr val="F59E0B"/>
                </a:solidFill>
              </a:defRPr>
            </a:pPr>
            <a:r>
              <a:t>Smart Roster Management &amp; Gemma 4 AI Clinical Training Platform</a:t>
            </a:r>
          </a:p>
          <a:p>
            <a:pPr>
              <a:spcBef>
                <a:spcPts val="1600"/>
              </a:spcBef>
              <a:defRPr sz="1400">
                <a:solidFill>
                  <a:srgbClr val="EDE9FE"/>
                </a:solidFill>
              </a:defRPr>
            </a:pPr>
            <a:r>
              <a:t>An enterprise full-stack healthcare solution combining automated duty scheduling, AI patient roleplay simulation, and nurse shift-break wellness lounge mini-games.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✦ React 18 &amp; Vite   ✦ Node.js &amp; Express   ✦ Prisma ORM &amp; SQLite   ✦ Gemma 4 AI Engine   ✦ Socket.IO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07080"/>
                </a:solidFill>
              </a:defRPr>
            </a:pPr>
            <a:r>
              <a:t>GitHub: Sagheer1122/Arbisoft-GDG-Hackathon  |  Live App: http://localhost:5173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Executive Overview: Solving Healthcare Workforce Fatigue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2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6162A"/>
                </a:solidFill>
              </a:defRPr>
            </a:pPr>
            <a:r>
              <a:t>🚨 Critical Healthcare Challenges</a:t>
            </a:r>
          </a:p>
          <a:p>
            <a:pPr>
              <a:spcBef>
                <a:spcPts val="1000"/>
              </a:spcBef>
              <a:defRPr sz="1200">
                <a:solidFill>
                  <a:srgbClr val="16162A"/>
                </a:solidFill>
              </a:defRPr>
            </a:pPr>
            <a:r>
              <a:t>• Scheduling Friction: Shift collisions, manual swap delays, and text overlap on duty rosters.</a:t>
            </a:r>
          </a:p>
          <a:p>
            <a:pPr>
              <a:spcBef>
                <a:spcPts val="1000"/>
              </a:spcBef>
              <a:defRPr sz="1200">
                <a:solidFill>
                  <a:srgbClr val="16162A"/>
                </a:solidFill>
              </a:defRPr>
            </a:pPr>
            <a:r>
              <a:t>• Clinical Nurse Burnout: Exhaustion during intense 12-hour duty shifts with insufficient mental reset.</a:t>
            </a:r>
          </a:p>
          <a:p>
            <a:pPr>
              <a:spcBef>
                <a:spcPts val="1000"/>
              </a:spcBef>
              <a:defRPr sz="1200">
                <a:solidFill>
                  <a:srgbClr val="16162A"/>
                </a:solidFill>
              </a:defRPr>
            </a:pPr>
            <a:r>
              <a:t>• Communication Practice Gap: Lack of realistic, safe scenarios for practicing high-stress patient interactions.</a:t>
            </a:r>
          </a:p>
          <a:p>
            <a:pPr>
              <a:spcBef>
                <a:spcPts val="1000"/>
              </a:spcBef>
              <a:defRPr sz="1200">
                <a:solidFill>
                  <a:srgbClr val="16162A"/>
                </a:solidFill>
              </a:defRPr>
            </a:pPr>
            <a:r>
              <a:t>• Communication Delays: Slow emergency alert broadcasts across hospital 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5142C5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 The NurseFlow Solution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Smart Roster Intelligence: Color-coded shifts (Morning, Evening, Night) with zero text overlap.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Gemma 4 AI Patient Simulator: Educational roleplay scenarios with dynamic emotion tracking.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Shift Break Lounge Games: 100% non-medical relaxation games (Tick &amp; Cross) for 10-min breaks.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Socket.IO Push Dispatch: Instant emergency ward broadcasts and 1-click swap approvals.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System Architecture &amp; Full-Stack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3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500" b="1">
                <a:solidFill>
                  <a:srgbClr val="16162A"/>
                </a:solidFill>
              </a:defRPr>
            </a:pPr>
            <a:r>
              <a:t>Frontend Single-Page App</a:t>
            </a:r>
          </a:p>
          <a:p>
            <a:pPr>
              <a:defRPr sz="1100">
                <a:solidFill>
                  <a:srgbClr val="707080"/>
                </a:solidFill>
              </a:defRPr>
            </a:pPr>
            <a:r>
              <a:t>React 18 + Vite, TypeScript, Tailwind CSS, Lucide Icons, Glassmorphic 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728655" cy="8229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6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500" b="1">
                <a:solidFill>
                  <a:srgbClr val="16162A"/>
                </a:solidFill>
              </a:defRPr>
            </a:pPr>
            <a:r>
              <a:t>State Management &amp; Router</a:t>
            </a:r>
          </a:p>
          <a:p>
            <a:pPr>
              <a:defRPr sz="1100">
                <a:solidFill>
                  <a:srgbClr val="707080"/>
                </a:solidFill>
              </a:defRPr>
            </a:pPr>
            <a:r>
              <a:t>React Context API (AuthContext, SocketContext), React Router v6 Guarded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28416"/>
            <a:ext cx="10728655" cy="8229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500" b="1">
                <a:solidFill>
                  <a:srgbClr val="16162A"/>
                </a:solidFill>
              </a:defRPr>
            </a:pPr>
            <a:r>
              <a:t>Backend REST API</a:t>
            </a:r>
          </a:p>
          <a:p>
            <a:pPr>
              <a:defRPr sz="1100">
                <a:solidFill>
                  <a:srgbClr val="707080"/>
                </a:solidFill>
              </a:defRPr>
            </a:pPr>
            <a:r>
              <a:t>Node.js + Express Server, JWT Bearer Token Security, Bcrypt Password Hashing Middleware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61104"/>
            <a:ext cx="10728655" cy="8229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500" b="1">
                <a:solidFill>
                  <a:srgbClr val="16162A"/>
                </a:solidFill>
              </a:defRPr>
            </a:pPr>
            <a:r>
              <a:t>Database &amp; Persistence</a:t>
            </a:r>
          </a:p>
          <a:p>
            <a:pPr>
              <a:defRPr sz="1100">
                <a:solidFill>
                  <a:srgbClr val="707080"/>
                </a:solidFill>
              </a:defRPr>
            </a:pPr>
            <a:r>
              <a:t>Prisma ORM with SQLite (dev.db), Seeded Scenarios, Roster Tables, and User Schemas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93792"/>
            <a:ext cx="10728655" cy="8229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500" b="1">
                <a:solidFill>
                  <a:srgbClr val="16162A"/>
                </a:solidFill>
              </a:defRPr>
            </a:pPr>
            <a:r>
              <a:t>Gemma 4 AI &amp; Real-Time Engine</a:t>
            </a:r>
          </a:p>
          <a:p>
            <a:pPr>
              <a:defRPr sz="1100">
                <a:solidFill>
                  <a:srgbClr val="707080"/>
                </a:solidFill>
              </a:defRPr>
            </a:pPr>
            <a:r>
              <a:t>Google Gemma 4 AI Roleplay Engine, 8-Score Analysis, Minimax Game AI, Socket.IO WebSockets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Core Module 1: Smart Duty Roster Calendar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4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🌅 Morning Shift</a:t>
            </a:r>
          </a:p>
          <a:p>
            <a:pPr>
              <a:spcBef>
                <a:spcPts val="800"/>
              </a:spcBef>
              <a:defRPr sz="1200" b="1">
                <a:solidFill>
                  <a:srgbClr val="16162A"/>
                </a:solidFill>
              </a:defRPr>
            </a:pPr>
            <a:r>
              <a:t>7:00 AM – 3:00 PM</a:t>
            </a:r>
          </a:p>
          <a:p>
            <a:pPr>
              <a:spcBef>
                <a:spcPts val="600"/>
              </a:spcBef>
              <a:defRPr sz="1000">
                <a:solidFill>
                  <a:srgbClr val="707080"/>
                </a:solidFill>
              </a:defRPr>
            </a:pPr>
            <a:r>
              <a:t>Style: Soft Emerald Tint</a:t>
            </a:r>
          </a:p>
          <a:p>
            <a:pPr>
              <a:spcBef>
                <a:spcPts val="1200"/>
              </a:spcBef>
              <a:defRPr sz="1100">
                <a:solidFill>
                  <a:srgbClr val="16162A"/>
                </a:solidFill>
              </a:defRPr>
            </a:pPr>
            <a:r>
              <a:t>Assigned to Ward Triage &amp; Morning Vitals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14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🌇 Evening Shift</a:t>
            </a:r>
          </a:p>
          <a:p>
            <a:pPr>
              <a:spcBef>
                <a:spcPts val="800"/>
              </a:spcBef>
              <a:defRPr sz="1200" b="1">
                <a:solidFill>
                  <a:srgbClr val="16162A"/>
                </a:solidFill>
              </a:defRPr>
            </a:pPr>
            <a:r>
              <a:t>3:00 PM – 11:00 PM</a:t>
            </a:r>
          </a:p>
          <a:p>
            <a:pPr>
              <a:spcBef>
                <a:spcPts val="600"/>
              </a:spcBef>
              <a:defRPr sz="1000">
                <a:solidFill>
                  <a:srgbClr val="707080"/>
                </a:solidFill>
              </a:defRPr>
            </a:pPr>
            <a:r>
              <a:t>Style: Soft Amber Tint</a:t>
            </a:r>
          </a:p>
          <a:p>
            <a:pPr>
              <a:spcBef>
                <a:spcPts val="1200"/>
              </a:spcBef>
              <a:defRPr sz="1100">
                <a:solidFill>
                  <a:srgbClr val="16162A"/>
                </a:solidFill>
              </a:defRPr>
            </a:pPr>
            <a:r>
              <a:t>Ward Medication Rounds &amp; 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14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600" b="1">
                <a:solidFill>
                  <a:srgbClr val="5142C5"/>
                </a:solidFill>
              </a:defRPr>
            </a:pPr>
            <a:r>
              <a:t>🌙 Night Shift</a:t>
            </a:r>
          </a:p>
          <a:p>
            <a:pPr>
              <a:spcBef>
                <a:spcPts val="800"/>
              </a:spcBef>
              <a:defRPr sz="1200" b="1">
                <a:solidFill>
                  <a:srgbClr val="16162A"/>
                </a:solidFill>
              </a:defRPr>
            </a:pPr>
            <a:r>
              <a:t>11:00 PM – 7:00 AM</a:t>
            </a:r>
          </a:p>
          <a:p>
            <a:pPr>
              <a:spcBef>
                <a:spcPts val="600"/>
              </a:spcBef>
              <a:defRPr sz="1000">
                <a:solidFill>
                  <a:srgbClr val="707080"/>
                </a:solidFill>
              </a:defRPr>
            </a:pPr>
            <a:r>
              <a:t>Style: Soft Purple Tint</a:t>
            </a:r>
          </a:p>
          <a:p>
            <a:pPr>
              <a:spcBef>
                <a:spcPts val="1200"/>
              </a:spcBef>
              <a:defRPr sz="1100">
                <a:solidFill>
                  <a:srgbClr val="16162A"/>
                </a:solidFill>
              </a:defRPr>
            </a:pPr>
            <a:r>
              <a:t>Overnight Monitoring &amp; Vital Checks every 2 hrs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514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600" b="1">
                <a:solidFill>
                  <a:srgbClr val="707080"/>
                </a:solidFill>
              </a:defRPr>
            </a:pPr>
            <a:r>
              <a:t>🏖️ Off Duty</a:t>
            </a:r>
          </a:p>
          <a:p>
            <a:pPr>
              <a:spcBef>
                <a:spcPts val="800"/>
              </a:spcBef>
              <a:defRPr sz="1200" b="1">
                <a:solidFill>
                  <a:srgbClr val="16162A"/>
                </a:solidFill>
              </a:defRPr>
            </a:pPr>
            <a:r>
              <a:t>No Shift Scheduled</a:t>
            </a:r>
          </a:p>
          <a:p>
            <a:pPr>
              <a:spcBef>
                <a:spcPts val="600"/>
              </a:spcBef>
              <a:defRPr sz="1000">
                <a:solidFill>
                  <a:srgbClr val="707080"/>
                </a:solidFill>
              </a:defRPr>
            </a:pPr>
            <a:r>
              <a:t>Style: Soft Slate Tint</a:t>
            </a:r>
          </a:p>
          <a:p>
            <a:pPr>
              <a:spcBef>
                <a:spcPts val="1200"/>
              </a:spcBef>
              <a:defRPr sz="1100">
                <a:solidFill>
                  <a:srgbClr val="16162A"/>
                </a:solidFill>
              </a:defRPr>
            </a:pPr>
            <a:r>
              <a:t>Rest &amp; Scheduled Downtime between shifts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Core Module 2: Gemma 4 AI Patient Communication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5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616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🤖 AI Persona Roleplay Engine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Pre-Seeded Scenarios: Anxious Patient, Angry Family Member, Confused Elderly Patient, Non-Cooperative Patient.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Dynamic Character Emotion Shift: Evaluates nurse empathy signals ('understand', 'listen', 'help') to shift tone.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Emotion Shift Pipeline: Hostile ➔ Frustrated ➔ Worried ➔ Calm ➔ Reassured.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Educational Tooling: Safe roleplay environment to practice high-stress conversations.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6162A"/>
                </a:solidFill>
              </a:defRPr>
            </a:pPr>
            <a:r>
              <a:t>📊 8-Competency Evaluation Engine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1. Empathy &amp; Compassion Score (0-100)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2. Active Listening &amp; Response Depth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3. Communication Clarity &amp; Terminology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4. Professionalism &amp; Boundary Setting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5. Emotional Intelligence &amp; De-escalation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6. Patient Engagement &amp; Reassurance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7. Confidence &amp; Clinical Support</a:t>
            </a:r>
          </a:p>
          <a:p>
            <a:pPr>
              <a:spcBef>
                <a:spcPts val="600"/>
              </a:spcBef>
              <a:defRPr sz="1100">
                <a:solidFill>
                  <a:srgbClr val="16162A"/>
                </a:solidFill>
              </a:defRPr>
            </a:pPr>
            <a:r>
              <a:t>✓ 8. Detailed Quote Highlights &amp; Actionable Advice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8-Competency AI Clinical 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6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1. Empathy &amp; Compassion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Validating patient feelings &amp; active 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5142C5"/>
                </a:solidFill>
              </a:defRPr>
            </a:pPr>
            <a:r>
              <a:t>2. Active Listening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Addressing patient questions without skipping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Communication Clarity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Explaining medical terms in simple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16162A"/>
                </a:solidFill>
              </a:defRPr>
            </a:pPr>
            <a:r>
              <a:t>4. Professionalism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Maintaining calm composure under pressure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5. De-escalation Capability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Neutralizing angry or confused situations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06040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5142C5"/>
                </a:solidFill>
              </a:defRPr>
            </a:pPr>
            <a:r>
              <a:t>6. Patient Engagement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Involving patient in care decision-making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7. Emotional Intelligence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Recognizing emotional cues &amp; tone shifts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92040"/>
            <a:ext cx="5120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400" b="1">
                <a:solidFill>
                  <a:srgbClr val="16162A"/>
                </a:solidFill>
              </a:defRPr>
            </a:pPr>
            <a:r>
              <a:t>8. Clinical Confidence</a:t>
            </a:r>
          </a:p>
          <a:p>
            <a:pPr>
              <a:spcBef>
                <a:spcPts val="400"/>
              </a:spcBef>
              <a:defRPr sz="1000">
                <a:solidFill>
                  <a:srgbClr val="707080"/>
                </a:solidFill>
              </a:defRPr>
            </a:pPr>
            <a:r>
              <a:t>Reassuring patient with clear healthcare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Core Module 3: AI Tick &amp; Cross (Tic-Tac-Toe ❌⭕) Break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7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5142C5"/>
                </a:solidFill>
              </a:defRPr>
            </a:pPr>
            <a:r>
              <a:t>🎮 Nurse Shift Break Relaxation Lounge</a:t>
            </a:r>
          </a:p>
          <a:p>
            <a:pPr>
              <a:spcBef>
                <a:spcPts val="1000"/>
              </a:spcBef>
              <a:defRPr sz="1300">
                <a:solidFill>
                  <a:srgbClr val="16162A"/>
                </a:solidFill>
              </a:defRPr>
            </a:pPr>
            <a:r>
              <a:t>• 100% Non-Medical Relaxation: Pure fun mini-game designed for 10-minute shift breaks to help nurses feel refreshed.</a:t>
            </a:r>
          </a:p>
          <a:p>
            <a:pPr>
              <a:spcBef>
                <a:spcPts val="1000"/>
              </a:spcBef>
              <a:defRPr sz="1300">
                <a:solidFill>
                  <a:srgbClr val="16162A"/>
                </a:solidFill>
              </a:defRPr>
            </a:pPr>
            <a:r>
              <a:t>• Gemma 4 AI Opponent: Nurse plays ❌ or ⭕ against Gemma 4 AI in real-time.</a:t>
            </a:r>
          </a:p>
          <a:p>
            <a:pPr>
              <a:spcBef>
                <a:spcPts val="1000"/>
              </a:spcBef>
              <a:defRPr sz="1300">
                <a:solidFill>
                  <a:srgbClr val="16162A"/>
                </a:solidFill>
              </a:defRPr>
            </a:pPr>
            <a:r>
              <a:t>• 3 Difficulty Modes: Easy (Casual Chill), Medium (Smart Rival), and Unbeatable (Minimax Algorithm).</a:t>
            </a:r>
          </a:p>
          <a:p>
            <a:pPr>
              <a:spcBef>
                <a:spcPts val="1000"/>
              </a:spcBef>
              <a:defRPr sz="1300">
                <a:solidFill>
                  <a:srgbClr val="16162A"/>
                </a:solidFill>
              </a:defRPr>
            </a:pPr>
            <a:r>
              <a:t>• Minimax Decision Tree Algorithm: Evaluates move trees up to depth 6 for optimal move selection.</a:t>
            </a:r>
          </a:p>
          <a:p>
            <a:pPr>
              <a:spcBef>
                <a:spcPts val="1000"/>
              </a:spcBef>
              <a:defRPr sz="1300">
                <a:solidFill>
                  <a:srgbClr val="16162A"/>
                </a:solidFill>
              </a:defRPr>
            </a:pPr>
            <a:r>
              <a:t>• Scoreboard &amp; Wellness Points: Tracks Nurse Wins, AI Wins, Draws, and awards Wellness Points to NurseGameScore model.</a:t>
            </a:r>
          </a:p>
          <a:p>
            <a:pPr>
              <a:spcBef>
                <a:spcPts val="1000"/>
              </a:spcBef>
              <a:defRPr sz="1300">
                <a:solidFill>
                  <a:srgbClr val="16162A"/>
                </a:solidFill>
              </a:defRPr>
            </a:pPr>
            <a:r>
              <a:t>• Live 10-Minute Break Timer: Built-in countdown timer ensures shift breaks stay structured.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Core Module 4: Shift Swaps, Leave Portal &amp; Socket.IO Push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8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16162A"/>
                </a:solidFill>
              </a:defRPr>
            </a:pPr>
            <a:r>
              <a:t>🔄 Shift Swap Requests</a:t>
            </a:r>
          </a:p>
          <a:p>
            <a:pPr>
              <a:spcBef>
                <a:spcPts val="1400"/>
              </a:spcBef>
              <a:defRPr sz="1200">
                <a:solidFill>
                  <a:srgbClr val="16162A"/>
                </a:solidFill>
              </a:defRPr>
            </a:pPr>
            <a:r>
              <a:t>Nurse-to-nurse duty exchange requests with peer selection, reason tracking, and 1-click admin approval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16162A"/>
                </a:solidFill>
              </a:defRPr>
            </a:pPr>
            <a:r>
              <a:t>🏖️ Leave Request Portal</a:t>
            </a:r>
          </a:p>
          <a:p>
            <a:pPr>
              <a:spcBef>
                <a:spcPts val="1400"/>
              </a:spcBef>
              <a:defRPr sz="1200">
                <a:solidFill>
                  <a:srgbClr val="16162A"/>
                </a:solidFill>
              </a:defRPr>
            </a:pPr>
            <a:r>
              <a:t>Annual, Sick, and Emergency leave applications with date range selection and status badges (Pending, Approved, Rejected).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1" y="1463040"/>
            <a:ext cx="3328416" cy="457200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16162A"/>
                </a:solidFill>
              </a:defRPr>
            </a:pPr>
            <a:r>
              <a:t>⚡ Socket.IO Push Alerts</a:t>
            </a:r>
          </a:p>
          <a:p>
            <a:pPr>
              <a:spcBef>
                <a:spcPts val="1400"/>
              </a:spcBef>
              <a:defRPr sz="1200">
                <a:solidFill>
                  <a:srgbClr val="16162A"/>
                </a:solidFill>
              </a:defRPr>
            </a:pPr>
            <a:r>
              <a:t>Bi-directional WebSocket event engine for instant emergency ward broadcasts and unread notification badge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Relational Database Architecture (Prisma ORM &amp; SQLite)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9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5142C5"/>
                </a:solidFill>
              </a:defRPr>
            </a:pPr>
            <a:r>
              <a:t>Model: User</a:t>
            </a:r>
          </a:p>
          <a:p>
            <a:pPr>
              <a:spcBef>
                <a:spcPts val="600"/>
              </a:spcBef>
              <a:defRPr sz="1100">
                <a:solidFill>
                  <a:srgbClr val="707080"/>
                </a:solidFill>
              </a:defRPr>
            </a:pPr>
            <a:r>
              <a:t>Fields: id, name, email, passwordHash, role, employeeId, departmentId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120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16162A"/>
                </a:solidFill>
              </a:defRPr>
            </a:pPr>
            <a:r>
              <a:t>Model: Roster</a:t>
            </a:r>
          </a:p>
          <a:p>
            <a:pPr>
              <a:spcBef>
                <a:spcPts val="600"/>
              </a:spcBef>
              <a:defRPr sz="1100">
                <a:solidFill>
                  <a:srgbClr val="707080"/>
                </a:solidFill>
              </a:defRPr>
            </a:pPr>
            <a:r>
              <a:t>Fields: id, nurseId, shiftId, departmentId, date, status,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Model: CommunicationScenario</a:t>
            </a:r>
          </a:p>
          <a:p>
            <a:pPr>
              <a:spcBef>
                <a:spcPts val="600"/>
              </a:spcBef>
              <a:defRPr sz="1100">
                <a:solidFill>
                  <a:srgbClr val="707080"/>
                </a:solidFill>
              </a:defRPr>
            </a:pPr>
            <a:r>
              <a:t>Fields: id, title, category, description, characterRole, difficulty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Model: CommunicationSession</a:t>
            </a:r>
          </a:p>
          <a:p>
            <a:pPr>
              <a:spcBef>
                <a:spcPts val="600"/>
              </a:spcBef>
              <a:defRPr sz="1100">
                <a:solidFill>
                  <a:srgbClr val="707080"/>
                </a:solidFill>
              </a:defRPr>
            </a:pPr>
            <a:r>
              <a:t>Fields: id, userId, scenarioId, status, overallScore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71800"/>
            <a:ext cx="5120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5142C5"/>
                </a:solidFill>
              </a:defRPr>
            </a:pPr>
            <a:r>
              <a:t>Model: CommunicationAnalysis</a:t>
            </a:r>
          </a:p>
          <a:p>
            <a:pPr>
              <a:spcBef>
                <a:spcPts val="600"/>
              </a:spcBef>
              <a:defRPr sz="1100">
                <a:solidFill>
                  <a:srgbClr val="707080"/>
                </a:solidFill>
              </a:defRPr>
            </a:pPr>
            <a:r>
              <a:t>Fields: id, sessionId, overallScore, empathyScore, strengths,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5120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Model: NurseGameScore</a:t>
            </a:r>
          </a:p>
          <a:p>
            <a:pPr>
              <a:spcBef>
                <a:spcPts val="600"/>
              </a:spcBef>
              <a:defRPr sz="1100">
                <a:solidFill>
                  <a:srgbClr val="707080"/>
                </a:solidFill>
              </a:defRPr>
            </a:pPr>
            <a:r>
              <a:t>Fields: id, userId, gameType, nurseWins, aiWins, draws, pointsEarned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Complete Backend REST API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10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6162A"/>
                </a:solidFill>
              </a:defRPr>
            </a:pPr>
            <a:r>
              <a:t>Authentication (/api/auth)  ➔  POST /login, POST /register, GET /me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6162A"/>
                </a:solidFill>
              </a:defRPr>
            </a:pPr>
            <a:r>
              <a:t>Staff Management (/api/users)  ➔  GET /, GET /:id, PATCH /:id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6162A"/>
                </a:solidFill>
              </a:defRPr>
            </a:pPr>
            <a:r>
              <a:t>Duty Rosters (/api/rosters)  ➔  GET /, POST /, PATCH /:id, DELETE /:id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10728655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6162A"/>
                </a:solidFill>
              </a:defRPr>
            </a:pPr>
            <a:r>
              <a:t>Leave &amp; Swaps (/api/leave-requests &amp; /api/shift-swaps)  ➔  GET /, POST /, PATCH /:id/approve, PATCH /:id/reject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6162A"/>
                </a:solidFill>
              </a:defRPr>
            </a:pPr>
            <a:r>
              <a:t>AI Patient Simulator (/api/communication-simulator)  ➔  GET /scenarios, POST /sessions, POST /messages, POST /end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728655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514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6162A"/>
                </a:solidFill>
              </a:defRPr>
            </a:pPr>
            <a:r>
              <a:t>AI Break Games (/api/games)  ➔  POST /tic-tac-toe/move, POST /tic-tac-toe/score, GET /score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514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142C5"/>
                </a:solidFill>
              </a:defRPr>
            </a:pPr>
            <a:r>
              <a:t>NURSEFLOW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162A"/>
                </a:solidFill>
              </a:defRPr>
            </a:pPr>
            <a:r>
              <a:t>Glassmorphic Design System &amp; Photorealistic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07080"/>
                </a:solidFill>
              </a:defRPr>
            </a:pPr>
            <a:r>
              <a:t>NurseFlow Platform Presentation  |  Slide 11 of 12  |  Arbisoft-GDG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1616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🎨 Premium Design Tokens &amp; Assets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Curated HSL Color Tokens: Deep Purple (#5142C5), Dark Navy Mesh (#16162A), Soft Light Purple Accent (#EDE9FE).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Glassmorphic Aesthetics: Liquid glass buttons (bg-white/15 backdrop-blur-md) and subtle scale hover micro-animations.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Photorealistic 8K Nurse Avatars: Generated realistic portraits of BOTH a female nurse wearing full hijab and a male nurse together side-by-side (no cartoon graphics).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Responsive Navigation: Responsive Sidebar, Topbar, and Mobile Bottom Nav bar across all viewports.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You! Q&amp;A &amp; Demonstration</a:t>
            </a:r>
          </a:p>
          <a:p>
            <a:pPr>
              <a:spcBef>
                <a:spcPts val="1000"/>
              </a:spcBef>
              <a:defRPr sz="1800" b="1">
                <a:solidFill>
                  <a:srgbClr val="F59E0B"/>
                </a:solidFill>
              </a:defRPr>
            </a:pPr>
            <a:r>
              <a:t>NurseFlow — Empowering Healthcare Staff Through AI Roster Intelligence</a:t>
            </a:r>
          </a:p>
          <a:p>
            <a:pPr>
              <a:spcBef>
                <a:spcPts val="1000"/>
              </a:spcBef>
              <a:defRPr sz="1300">
                <a:solidFill>
                  <a:srgbClr val="EDE9FE"/>
                </a:solidFill>
              </a:defRPr>
            </a:pPr>
            <a:r>
              <a:t>• Live Web Application: http://localhost:5173</a:t>
            </a:r>
          </a:p>
          <a:p>
            <a:pPr>
              <a:spcBef>
                <a:spcPts val="1000"/>
              </a:spcBef>
              <a:defRPr sz="1300">
                <a:solidFill>
                  <a:srgbClr val="EDE9FE"/>
                </a:solidFill>
              </a:defRPr>
            </a:pPr>
            <a:r>
              <a:t>• GitHub Repository: https://github.com/Sagheer1122/Arbisoft-GDG-Hackathon.git</a:t>
            </a:r>
          </a:p>
          <a:p>
            <a:pPr>
              <a:spcBef>
                <a:spcPts val="1000"/>
              </a:spcBef>
              <a:defRPr sz="1300">
                <a:solidFill>
                  <a:srgbClr val="EDE9FE"/>
                </a:solidFill>
              </a:defRPr>
            </a:pPr>
            <a:r>
              <a:t>• Complete System PDF Manual: NurseFlow_Complete_Documentation.pdf</a:t>
            </a:r>
          </a:p>
          <a:p>
            <a:pPr>
              <a:spcBef>
                <a:spcPts val="1000"/>
              </a:spcBef>
              <a:defRPr sz="1300">
                <a:solidFill>
                  <a:srgbClr val="EDE9FE"/>
                </a:solidFill>
              </a:defRPr>
            </a:pPr>
            <a:r>
              <a:t>• Kaggle Dataset Documentation: KAGGLE_DOCUMENTATION.md</a:t>
            </a:r>
          </a:p>
          <a:p>
            <a:pPr>
              <a:spcBef>
                <a:spcPts val="1000"/>
              </a:spcBef>
              <a:defRPr sz="1300">
                <a:solidFill>
                  <a:srgbClr val="EDE9FE"/>
                </a:solidFill>
              </a:defRPr>
            </a:pPr>
            <a:r>
              <a:t>• REST API Documentation: API_DOCUMENTATION.md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